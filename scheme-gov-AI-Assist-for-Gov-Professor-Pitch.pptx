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88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"/>
            <a:ext cx="12188952" cy="21945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25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scheme.gov — AI Assist for 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Multilingual Welfare Scheme Discovery Platform  •  94 Central Schemes  •  14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Handloom 6 Flagships  •  Admin Panel  •  Customer Service  •  Secure by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280160"/>
            <a:ext cx="26517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Calibri"/>
              </a:defRPr>
            </a:pPr>
            <a:r>
              <a:t>Live 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783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http://localhost:3000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1031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Admin: admin@welfare.gov.in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2860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Pass: Admin1234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560320"/>
            <a:ext cx="1920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6974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DB: hackathon-ai-welfare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8803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Schemes: 94  •  Users: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0632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Tech: Next.js 16  •  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7A"/>
                </a:solidFill>
                <a:latin typeface="Calibri"/>
              </a:defRPr>
            </a:pPr>
            <a:r>
              <a:t>Tomorrow’s Professor Pitch  •  Team Demo  •  For Hackathon Presentation  •  5–7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717A"/>
                </a:solidFill>
                <a:latin typeface="Calibri"/>
              </a:defRPr>
            </a:pPr>
            <a:r>
              <a:t>Made with scheme.gov  • 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09360"/>
            <a:ext cx="10881360" cy="127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01 — CONTEXT  •  30 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Problem &amp;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Why scheme.gov exists — 300+ schemes, last-mile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577840" cy="3657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Calibri"/>
              </a:defRPr>
            </a:pPr>
            <a:r>
              <a:t>Problem — Access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300+ central schemes scattered across ministry portals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Rural / weaver / tribal families miss benefits: language, income test, paperwork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No single scored discovery — eligibility is opaque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Uploads insecure, grievances untracked, no handloom focus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Admin has no queue for applications/tickets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577840" cy="36576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38808"/>
                </a:solidFill>
                <a:latin typeface="Calibri"/>
              </a:defRPr>
            </a:pPr>
            <a:r>
              <a:t>Vision — One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One multilingual discovery: language + income + category + state → scored matches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EN/HI benefits + docs checklist → Apply with secure upload → Track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94 schemes (14 categories) including 6 Handloom flagships — all via /apply/[id]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Admin Panel: stats, users, apps, grievances, tickets, schemes CRUD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Customer Service: threaded tickets user ↔ admin/staff (handloom support)</a:t>
            </a:r>
          </a:p>
          <a:p>
            <a:pPr>
              <a:spcAft>
                <a:spcPts val="400"/>
              </a:spcAft>
              <a:defRPr sz="1000">
                <a:solidFill>
                  <a:srgbClr val="18181B"/>
                </a:solidFill>
                <a:latin typeface="Calibri"/>
              </a:defRPr>
            </a:pPr>
            <a:r>
              <a:t>• Secure by design: JWT httpOnly, aadhaarLast4 only, rate-limit, CSP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02 — COVERAGE  •  CORE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94 Central Schemes — 14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app/data/schemes.json:1 single source → MongoDB bulkWrite upsert on every search/seed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Farmer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PM-KISAN, PMFBY, KCC, KUSUM, PMMSY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4630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16002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Health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Ayushman PM-JAY, JSY, ABDM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6002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Employment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MGNREGA, MUDRA, E-Shram, PMKVY, Vishwakarma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4630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16002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Housing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PMAY-U 2.0, SBM, JJM, SVAMITVA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8346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29718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9992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Finance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Jan Dhan, Stand-Up, CGTMSE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28346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11880" y="29718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29992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Women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Ujjwala, Sukanya, PMMVY, Drone Didi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8346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29718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9992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Pension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APY, PM-KMY, NSAP, PM-SYM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283464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64040" y="2971800"/>
            <a:ext cx="457200" cy="228600"/>
          </a:xfrm>
          <a:prstGeom prst="roundRect">
            <a:avLst>
              <a:gd name="adj" fmla="val 8000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29992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Education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246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NSP, YASASVI, SC/OBC, NMMSS, PMSS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389120"/>
            <a:ext cx="11064240" cy="1325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52628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Other 5:  Insurance 2  •  Food 3 (PMGKAY/NFSA/ONORC)  •  Energy 3 (PM Surya Ghar 78k, UJALA, E-Drive)  •  Disability 2 (ADIP/Niramaya)  •  Tribal 2 (Van Dhan, Janjatiya Utkarsh)  •  Handloom 6 below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8463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Scoring: income ≤ max_income + category match 0.5+0.2 + state_coverage ALL/28 states → sorted matches with factors. All 94 dynamic at /api/schemes and /apply/[id].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03 — HANDLOOM FOCUS  •  6 FLAGSHIPS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Handloom Scheme Stack — Ministry of Textiles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category:handloom  •  state_coverage:ALL  •  /apply/nhdp etc. — Why we added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" cy="228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WSC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NHDP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nhdp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Block ₹2cr, CFC, 15% marketing, WSC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563EB"/>
                </a:solidFill>
                <a:latin typeface="Calibri"/>
              </a:defRPr>
            </a:pPr>
            <a:r>
              <a:t>→ /apply/nhdp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155448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1760" y="1691640"/>
            <a:ext cx="640080" cy="228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691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NHDC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YSS / RMSS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240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yss-yarn-supply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Mill Gate +10% subsidy, freight via NHDC/e-Dhaga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563EB"/>
                </a:solidFill>
                <a:latin typeface="Calibri"/>
              </a:defRPr>
            </a:pPr>
            <a:r>
              <a:t>→ /apply/yss-yarn-supply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155448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19" y="1691640"/>
            <a:ext cx="640080" cy="228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19" y="1691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Mega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CHCDS Mega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2240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chcds-mega-cluster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₹40cr/cluster Varanasi/Sivasagar, dyeing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563EB"/>
                </a:solidFill>
                <a:latin typeface="Calibri"/>
              </a:defRPr>
            </a:pPr>
            <a:r>
              <a:t>→ /apply/chcds-mega-cluster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19" y="155448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79" y="1691640"/>
            <a:ext cx="640080" cy="228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79" y="1691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MUDRA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Weaver MUDRA/HSS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2240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weaver-mudra-hathkargha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₹10L at 6% + 90% margin + workshed 1.2L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563EB"/>
                </a:solidFill>
                <a:latin typeface="Calibri"/>
              </a:defRPr>
            </a:pPr>
            <a:r>
              <a:t>→ /apply/weaver-mudra-hathkargha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155448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49640" y="1691640"/>
            <a:ext cx="640080" cy="228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1691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Converged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Weelfare Insurance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2240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handloom-welfare-insurance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PMJJBY/PMSBY + Ayushman 5L + NSP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563EB"/>
                </a:solidFill>
                <a:latin typeface="Calibri"/>
              </a:defRPr>
            </a:pPr>
            <a:r>
              <a:t>→ /apply/handloom-welfare-insurance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78440" y="1554480"/>
            <a:ext cx="18288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515600" y="1691640"/>
            <a:ext cx="640080" cy="228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1691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Mark &amp; India Brand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2240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handloom-marketing-india-brand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Certification + GeM/ONDC + GI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3832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563EB"/>
                </a:solidFill>
                <a:latin typeface="Calibri"/>
              </a:defRPr>
            </a:pPr>
            <a:r>
              <a:t>→ /apply/handloom-marketing-india-brand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4348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8181B"/>
                </a:solidFill>
                <a:latin typeface="Calibri"/>
              </a:defRPr>
            </a:pPr>
            <a:r>
              <a:t>Why Handloom?  Weavers excluded by trader margins on yarn + lack of credit/workshed. YSS (NHDC) + MUDRA (6% + guarantee fee paid) + Mark/Brand (GeM) solves it — integrated in one search category.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8463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Demo: Select category Handloom &amp; Textiles in SearchForm (/app/components/search/SearchForm.tsx:89) → 6 results, or open any /apply/yss-yarn-supply — shows Hindi docs, benefits, upload checklist. All 6 use same apply flow as PM-KISAN.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04 — USER JOURNEY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How a Weaver Applies in 3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Frontend → API → MongoDB — no external API key, only MONGODB_URI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Calibri"/>
              </a:defRPr>
            </a:pPr>
            <a:r>
              <a:t>language</a:t>
            </a:r>
            <a:br/>
            <a:r>
              <a:t>income</a:t>
            </a:r>
            <a:br/>
            <a:r>
              <a:t>category</a:t>
            </a:r>
            <a:br/>
            <a:r>
              <a:t>state →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POST /api/search</a:t>
            </a:r>
            <a:br/>
            <a:r>
              <a:t>zod + rate-limit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15544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39" y="1737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19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Calibri"/>
              </a:defRPr>
            </a:pPr>
            <a:r>
              <a:t>EN/HI docs checklist</a:t>
            </a:r>
            <a:br/>
            <a:r>
              <a:t>per-doc upload</a:t>
            </a:r>
            <a:br/>
            <a:r>
              <a:t>DBT bank + land/Yarn passbook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39" y="310896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POST /api/upload</a:t>
            </a:r>
            <a:br/>
            <a:r>
              <a:t>(mime whitelist)</a:t>
            </a:r>
            <a:br/>
            <a:r>
              <a:t>POST /api/applications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5544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17373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Calibri"/>
              </a:defRPr>
            </a:pPr>
            <a:r>
              <a:t>Applications / Grievance</a:t>
            </a:r>
            <a:br/>
            <a:r>
              <a:t>Customer Service ticket</a:t>
            </a:r>
            <a:br/>
            <a:r>
              <a:t>Admin updates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10896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GET /api/applications</a:t>
            </a:r>
            <a:br/>
            <a:r>
              <a:t>/ grievances / customer-service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348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Architecture  •  Next.js 16 + React 19 + Tailwind 4  •  Mongoose  •  bcryptjs  •  zod  •  react-hook-form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app/page.tsx (Home search) → POST /api/search (bulkWrite sync 94 if count&lt;94) → MongoDB schemes | User registers → bcrypt 10 → JWT httpOnly (HS256 7d app/lib/auth.ts:26) → Cookie.  Upload via /api/upload → public/uploads/ (auth+mime).  Proxy (proxy.ts:1) adds CSP/HSTS.  No external AI key — only MONGODB_URI app/lib/mongodb.ts:3.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77840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Seeds: fallbackSchemes = 94 JSON → bulkWrite upsert.  Seed demo users via POST /api/seed → admin@welfare.gov.in/Admin1234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05 — FEATURES  •  DISCOVERY &amp;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What the User Sees — Multilingual, Scored, Upload-Ready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All 94 schemes share the same apply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Scheme Discovery — 14 Categories in SearchForm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Dropdown: Farmer/Health/Employment/.../Handloom 6 (app/components/search/SearchForm.tsx:89)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Filter: income ≤ max_income + state_coverage ALL/28 states  •  Scored 0.5+0.2 + factors: Category, Income ≤ ₹X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Bilingual: name/description/benefits/docs in EN + HI (name_hi etc.)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Apply with Documents — Every Scheme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Shows benefits_hi + documents_required_hi checklist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Per-doc file input → POST /api/upload (auth, 5MB, pdf/jpg/png/webp, random hex name)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Submit → POST /api/applications stores only aadhaarLast4 (PII safe) + fileUrl → View links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Public Auth — 30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Register: zod 8-char min, bcrypt 10 → JWT httpOnly cookie  app/api/auth/register/route.ts:1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Login: rate-limit 10/15m, demo auto-create demo@welfare.gov.in/demo123  app/api/auth/login/route.ts:1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17520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Track: Applications &amp; Grievance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/applications (owner-only GET) shows View links to /uploads/*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/grievance POST sans &lt;script&gt; + aadhaarLast4 only, GET auth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Calibri"/>
              </a:defRPr>
            </a:pPr>
            <a:r>
              <a:t>Demo Flow (1 min):  Home → select Handloom → Search → open YSS → Show ₹10% subsidy + docs → Apply → Upload → Submit → Applications → Grievance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7A"/>
                </a:solidFill>
                <a:latin typeface="Calibri"/>
              </a:defRPr>
            </a:pPr>
            <a:r>
              <a:t>Emphasize: Same apply pipeline for PM-KISAN and Handloom YSS — unified, not siloed.  DB badge on Home via GET /api/status shows users/schemes/grievances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06 — ADMIN &amp; CUSTOMER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New: Role-Gated Admin + Helpdesk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JWT role: user | staff | admin  •  /admin guarded by /api/auth/me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Admin Panel — http://localhost:3000/admin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Guard: app/admin/layout.tsx:1 checks role admin/staff, else /login?next=/admin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📊 Dashboard app/admin/page.tsx:1 — counts + breakdowns + recent apps/tickets via GET /api/admin/stats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👥 Users — GET /api/admin/users, PATCH role user→staff→admin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📄 Applications — PATCH status submitted/under_review/approved/rejected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⚠️ Grievances — PATCH in_progress/resolved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🎧 Tickets — queue, reply, close  (see right)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🏛️ Schemes — list 94 + POST/PATCH/DELETE /api/admin/schemes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5309"/>
                </a:solidFill>
                <a:latin typeface="Calibri"/>
              </a:defRPr>
            </a:pPr>
            <a:r>
              <a:t>Seeded: admin@welfare.gov.in / Admin1234 (admin)</a:t>
            </a:r>
            <a:br/>
            <a:r>
              <a:t>             staff@welfare.gov.in / Staff1234 (staff)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Customer Service — Two Sides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Model app/models/CustomerTicket.ts:1  ticketId, status, priority, messages[]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User: /customer-service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Create: subject, category=handloom, priority, schemeId + description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POST /api/customer-service (auth+rate-limit, strip &lt;&gt;)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View own tickets + threaded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8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Admin: /admin/customer-service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GET /api/admin/tickets, PATCH reply+status (open→in_progress→resolved)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• Example: Handloom YSS not received (high) → admin forwards to NHDC → user sees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572000"/>
            <a:ext cx="5212080" cy="4572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663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38808"/>
                </a:solidFill>
                <a:latin typeface="Calibri"/>
              </a:defRPr>
            </a:pPr>
            <a:r>
              <a:t>Demo both sides: create as cust@test.com → reply as 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07 — SECURE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Audit Fixes — Not Just Demo Secure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npm audit 0 → app-layer hardening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72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Auth: localStorage mock REMOVED app/login/page.tsx:32 → httpOnly JWT HS256 7d app/lib/auth.ts:26 (timingSafeEqual, role, HttpOnly+Strict)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40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3774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50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PII: Only aadhaarLast4 stored app/api/applications/route.ts:76 never full 12-digit, GET owner-only 403 if email mismatch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15468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218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272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Upload: ALLOWED_MIME+EXT whitelist app/api/upload/route.ts:16, mime↔ext match, random hex, block &lt;script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93192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959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9044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Headers: proxy.ts:4 + next.config.ts:5 CSP frame-ancestors 'none', HSTS, X-Frame DENY, nosniff, no-store for /api/applications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709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773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817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Rate-limit: in-memory checkRateLimit app/lib/auth.ts:85 — login 10/15m, search 30/min, seed 5/h; zod validation on all POST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54864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550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589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RBAC: requireAdmin app/lib/auth.ts:45 on /api/admin/*; .env*.local ignored via .gitignore, JWT_SECRET in .env.example:6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08 — QUICK START &amp;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Run Locally in 3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Env: only MONGODB_URI + JWT_SECRET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1. Install &amp; Mongo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git clone …/hackathon-ai-welfare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npm install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mongod --dbpath /tmp/mongodb-data --fork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cp .env.example .env.local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MONGODB_URI=mongodb://127.0.0.1:27017/hackathon-ai-welfare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JWT_SECRET=…  SEED_SECRET=…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2. Seed &amp;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npm run dev → http://localhost:3000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curl -X POST http://localhost:3000/api/seed -H "x-seed-secret: local-dev-seed-secret" → {schemes:94, adminUser}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Verify: curl /api/status → connected, schemes:94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Login: admin/Admin1234 → /admin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3. Key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POST /api/auth/register, /api/auth/login (JWT)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POST /api/search {language,income,category}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GET /api/schemes?id=nhdp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POST /api/customer-service (ticket)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GET /api/admin/stats (admin only)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• GET /api/status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8181B"/>
                </a:solidFill>
                <a:latin typeface="Calibri"/>
              </a:defRPr>
            </a:pPr>
            <a:r>
              <a:t>Project Structure — app/  page.tsx, admin/*, customer-service, api/auth, api/admin/*, lib/auth.ts, models/User (role), CustomerTicket, proxy.ts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7A"/>
                </a:solidFill>
                <a:latin typeface="Calibri"/>
              </a:defRPr>
            </a:pPr>
            <a:r>
              <a:t>public/uploads/ (5MB, auth), gov-emblem.png favicon, scheme-gov-AI-Assist-for-Gov.pptx earlier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09 — PROJECT MAP &amp; LIVE DEMO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34 Routes — Where to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Build: next build ✓  •  Proxy (Middleware)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Route Map (app/)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○ /  (search + DB badge)                 ○ /login, /register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ƒ /apply/[id]  (94 ids)                   ○ /applications, /grievance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○ /customer-service (user)                 ○ /admin + 5 sub-pages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ƒ /api/auth/*, /api/search, /api/schemes, /api/upload, /api/applications, /api/customer-service</a:t>
            </a:r>
          </a:p>
          <a:p>
            <a:pPr>
              <a:spcAft>
                <a:spcPts val="400"/>
              </a:spcAft>
              <a:defRPr sz="700">
                <a:solidFill>
                  <a:srgbClr val="18181B"/>
                </a:solidFill>
                <a:latin typeface="Calibri"/>
              </a:defRPr>
            </a:pPr>
            <a:r>
              <a:t>ƒ /api/admin/* (6 routes)                 ƒ Proxy (headers)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Live Demo Script —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1. Home → select Handloom → Search → see 6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2. Open yss-yarn-supply → show 10% subsidy + HI docs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3. Apply → Upload Aadhaar (5MB) → Submit → Applications → View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4. /customer-service → Create handloom ticket → as admin reply at /admin/customer-service</a:t>
            </a:r>
          </a:p>
          <a:p>
            <a:pPr>
              <a:spcAft>
                <a:spcPts val="400"/>
              </a:spcAft>
              <a:defRPr sz="800">
                <a:solidFill>
                  <a:srgbClr val="18181B"/>
                </a:solidFill>
                <a:latin typeface="Calibri"/>
              </a:defRPr>
            </a:pPr>
            <a:r>
              <a:t>5. /admin → show stats 94, switch user role demo → staff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Localhost already running:  http://localhost:3000  •  Admin: http://localhost:3000/admin  •  Help: http://localhost:3000/customer-service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88952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7A"/>
                </a:solidFill>
                <a:latin typeface="Calibri"/>
              </a:defRPr>
            </a:pPr>
            <a:r>
              <a:t>10 — IMPACT &amp;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What Changes + What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From scattered portals to one scored, secure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1270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38808"/>
                </a:solidFill>
                <a:latin typeface="Calibri"/>
              </a:defRPr>
            </a:pPr>
            <a:r>
              <a:t>Impact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Weaver in Sivasagar finds YSS in Hindi + checks docs before trip</a:t>
            </a:r>
          </a:p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Student filters education 18 scholarships in one search</a:t>
            </a:r>
          </a:p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Staff resolves handloom ticket in 24h vs weeks</a:t>
            </a:r>
          </a:p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Admin sees 94 schemes health at a glance, no spreadsheet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State schemes: state_coverage filter already 28 states → plug state JSONs</a:t>
            </a:r>
          </a:p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AI Assist: RAG on scheme PDFs + chat in 12 languages (DIKSHA + ABDM style)</a:t>
            </a:r>
          </a:p>
          <a:p>
            <a:pPr>
              <a:spcAft>
                <a:spcPts val="400"/>
              </a:spcAft>
              <a:defRPr sz="900">
                <a:solidFill>
                  <a:srgbClr val="18181B"/>
                </a:solidFill>
                <a:latin typeface="Calibri"/>
              </a:defRPr>
            </a:pPr>
            <a:r>
              <a:t>• DigiLocker fetch for docs, SMS status, SLA dashboard, assign to staff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Key Takeaway for Professor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7A"/>
                </a:solidFill>
                <a:latin typeface="Calibri"/>
              </a:defRPr>
            </a:pPr>
            <a:r>
              <a:t>94 schemes including 6 Handloom flagships, secure JWT + role admin + customer-service helpdesk, multilingual discovery with scored matching — all running on Next.js + MongoDB with no external API key. Ready to scale to state schemes.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8895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"/>
            <a:ext cx="12188952" cy="21945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  <a:latin typeface="Calibri"/>
              </a:defRPr>
            </a:pPr>
            <a:r>
              <a:t>Questions?  Live Demo at http://localhost:3000/admin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01752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8181B"/>
                </a:solidFill>
                <a:latin typeface="Calibri"/>
              </a:defRPr>
            </a:pPr>
            <a:r>
              <a:t>Admin: admin@welfare.gov.in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Pass: Admin1234  •  Staff: Staff1234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7A"/>
                </a:solidFill>
                <a:latin typeface="Calibri"/>
              </a:defRPr>
            </a:pPr>
            <a:r>
              <a:t>scheme.gov — AI Assist for Gov  •  94 Schemes  •  Handloom 6  •  Secure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2920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1717A"/>
                </a:solidFill>
                <a:latin typeface="Calibri"/>
              </a:defRPr>
            </a:pPr>
            <a:r>
              <a:t>Team • Hackathon 2026 • Guide: please ask about Handloom stack!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6126480"/>
            <a:ext cx="1371600" cy="4572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